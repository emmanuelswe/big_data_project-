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sldIdLst>
    <p:sldId id="297" r:id="rId6"/>
    <p:sldId id="338" r:id="rId7"/>
    <p:sldId id="345" r:id="rId8"/>
    <p:sldId id="346" r:id="rId9"/>
    <p:sldId id="347" r:id="rId10"/>
    <p:sldId id="3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913"/>
    <a:srgbClr val="C7E6A4"/>
    <a:srgbClr val="FF8181"/>
    <a:srgbClr val="D95900"/>
    <a:srgbClr val="FFFFFF"/>
    <a:srgbClr val="93809D"/>
    <a:srgbClr val="002D62"/>
    <a:srgbClr val="55C5E9"/>
    <a:srgbClr val="666666"/>
    <a:srgbClr val="9A9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35" dt="2026-10-18T16:36:07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4628" autoAdjust="0"/>
  </p:normalViewPr>
  <p:slideViewPr>
    <p:cSldViewPr snapToGrid="0">
      <p:cViewPr varScale="1">
        <p:scale>
          <a:sx n="105" d="100"/>
          <a:sy n="105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F7E2D-7B8F-4F80-BF99-5B46D35C2FAD}" type="datetimeFigureOut">
              <a:rPr lang="en-ZA" smtClean="0"/>
              <a:t>2026/10/18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46900-4EDF-44E7-B007-0B5AD608C1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655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2907" y="192742"/>
            <a:ext cx="11806186" cy="647251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0022541" y="4720197"/>
            <a:ext cx="1757083" cy="17612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6682" y="4684290"/>
            <a:ext cx="1833843" cy="18379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48235" y="4720197"/>
            <a:ext cx="9413501" cy="1761285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0311" y="4980501"/>
            <a:ext cx="8716418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presentation title</a:t>
            </a:r>
            <a:endParaRPr lang="en-Z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50311" y="5439804"/>
            <a:ext cx="8716418" cy="277906"/>
          </a:xfrm>
        </p:spPr>
        <p:txBody>
          <a:bodyPr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5986979"/>
            <a:ext cx="4583112" cy="30624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 cap="none" spc="-30" baseline="0" smtClean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165100" lvl="0" indent="-1651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Add 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278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/>
          <a:srcRect t="8782" b="8782"/>
          <a:stretch/>
        </p:blipFill>
        <p:spPr>
          <a:xfrm>
            <a:off x="192907" y="192742"/>
            <a:ext cx="11806186" cy="647251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48235" y="4720197"/>
            <a:ext cx="9413501" cy="1761285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0311" y="4980501"/>
            <a:ext cx="8716418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presentation title</a:t>
            </a:r>
            <a:endParaRPr lang="en-Z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50311" y="5439804"/>
            <a:ext cx="8716418" cy="277906"/>
          </a:xfrm>
        </p:spPr>
        <p:txBody>
          <a:bodyPr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5986979"/>
            <a:ext cx="4583112" cy="30624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 cap="none" spc="-30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165100" lvl="0" indent="-1651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Add date</a:t>
            </a:r>
            <a:endParaRPr lang="en-GB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10022541" y="4720197"/>
            <a:ext cx="1757083" cy="17612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6682" y="4684290"/>
            <a:ext cx="1833843" cy="18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3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92907" y="192742"/>
            <a:ext cx="11806186" cy="6472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0311" y="4980501"/>
            <a:ext cx="8716418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presentation title</a:t>
            </a:r>
            <a:endParaRPr lang="en-Z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50311" y="5439804"/>
            <a:ext cx="8716418" cy="277906"/>
          </a:xfrm>
        </p:spPr>
        <p:txBody>
          <a:bodyPr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5986979"/>
            <a:ext cx="4583112" cy="30624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 cap="none" spc="-30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165100" lvl="0" indent="-1651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Add date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9070" y="4969764"/>
            <a:ext cx="1266509" cy="126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4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0311" y="4980501"/>
            <a:ext cx="8716418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presentation title</a:t>
            </a:r>
            <a:endParaRPr lang="en-Z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50311" y="5439804"/>
            <a:ext cx="8716418" cy="277906"/>
          </a:xfrm>
        </p:spPr>
        <p:txBody>
          <a:bodyPr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5986979"/>
            <a:ext cx="4583112" cy="30624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 cap="none" spc="-30" baseline="0" smtClean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165100" lvl="0" indent="-1651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Add date</a:t>
            </a:r>
            <a:endParaRPr lang="en-GB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10022541" y="4720197"/>
            <a:ext cx="1757083" cy="17612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6682" y="4684290"/>
            <a:ext cx="1833843" cy="18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6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92907" y="192742"/>
            <a:ext cx="11806186" cy="6472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/>
          <p:cNvCxnSpPr>
            <a:cxnSpLocks/>
          </p:cNvCxnSpPr>
          <p:nvPr userDrawn="1"/>
        </p:nvCxnSpPr>
        <p:spPr>
          <a:xfrm>
            <a:off x="394821" y="3173508"/>
            <a:ext cx="1140235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394821" y="2453901"/>
            <a:ext cx="7359650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divider title</a:t>
            </a:r>
            <a:endParaRPr lang="en-ZA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9070" y="4969764"/>
            <a:ext cx="1266509" cy="126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1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92907" y="192742"/>
            <a:ext cx="11806186" cy="647251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/>
          <p:cNvCxnSpPr>
            <a:cxnSpLocks/>
          </p:cNvCxnSpPr>
          <p:nvPr userDrawn="1"/>
        </p:nvCxnSpPr>
        <p:spPr>
          <a:xfrm>
            <a:off x="394821" y="3173508"/>
            <a:ext cx="1140235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4821" y="2453901"/>
            <a:ext cx="7359650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divider title</a:t>
            </a:r>
            <a:endParaRPr lang="en-ZA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0022541" y="4720197"/>
            <a:ext cx="1757083" cy="17612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6682" y="4684290"/>
            <a:ext cx="1833843" cy="18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2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31694" y="1102659"/>
            <a:ext cx="11600330" cy="10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/>
          <p:cNvSpPr/>
          <p:nvPr userDrawn="1"/>
        </p:nvSpPr>
        <p:spPr>
          <a:xfrm>
            <a:off x="331694" y="896471"/>
            <a:ext cx="11600330" cy="206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31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31694" y="1102659"/>
            <a:ext cx="11600330" cy="10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/>
          <p:cNvSpPr/>
          <p:nvPr userDrawn="1"/>
        </p:nvSpPr>
        <p:spPr>
          <a:xfrm>
            <a:off x="331694" y="896471"/>
            <a:ext cx="11600330" cy="206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4903" y="6186557"/>
            <a:ext cx="508838" cy="5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3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31694" y="1102659"/>
            <a:ext cx="11600330" cy="10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/>
          <p:cNvSpPr/>
          <p:nvPr userDrawn="1"/>
        </p:nvSpPr>
        <p:spPr>
          <a:xfrm>
            <a:off x="331694" y="896471"/>
            <a:ext cx="11600330" cy="206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76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9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93533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933680"/>
            <a:ext cx="1145222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015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baseline="0" dirty="0"/>
            </a:lvl1pPr>
          </a:lstStyle>
          <a:p>
            <a:pPr lvl="0"/>
            <a:r>
              <a:rPr lang="en-US" dirty="0"/>
              <a:t>4 contacts with short description</a:t>
            </a:r>
            <a:endParaRPr lang="en-Z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40" hasCustomPrompt="1"/>
          </p:nvPr>
        </p:nvSpPr>
        <p:spPr>
          <a:xfrm>
            <a:off x="368300" y="1701975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43" hasCustomPrompt="1"/>
          </p:nvPr>
        </p:nvSpPr>
        <p:spPr>
          <a:xfrm>
            <a:off x="2044700" y="1701976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44" hasCustomPrompt="1"/>
          </p:nvPr>
        </p:nvSpPr>
        <p:spPr>
          <a:xfrm>
            <a:off x="2044700" y="1972235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94" name="Text Placeholder 14"/>
          <p:cNvSpPr>
            <a:spLocks noGrp="1"/>
          </p:cNvSpPr>
          <p:nvPr>
            <p:ph type="body" sz="quarter" idx="45" hasCustomPrompt="1"/>
          </p:nvPr>
        </p:nvSpPr>
        <p:spPr>
          <a:xfrm>
            <a:off x="2044700" y="2212777"/>
            <a:ext cx="3863041" cy="15434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14" name="Picture Placeholder 2"/>
          <p:cNvSpPr>
            <a:spLocks noGrp="1"/>
          </p:cNvSpPr>
          <p:nvPr>
            <p:ph type="pic" sz="quarter" idx="46" hasCustomPrompt="1"/>
          </p:nvPr>
        </p:nvSpPr>
        <p:spPr>
          <a:xfrm>
            <a:off x="6281084" y="1701975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15" name="Text Placeholder 14"/>
          <p:cNvSpPr>
            <a:spLocks noGrp="1"/>
          </p:cNvSpPr>
          <p:nvPr>
            <p:ph type="body" sz="quarter" idx="47" hasCustomPrompt="1"/>
          </p:nvPr>
        </p:nvSpPr>
        <p:spPr>
          <a:xfrm>
            <a:off x="7957484" y="1701976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16" name="Text Placeholder 14"/>
          <p:cNvSpPr>
            <a:spLocks noGrp="1"/>
          </p:cNvSpPr>
          <p:nvPr>
            <p:ph type="body" sz="quarter" idx="48" hasCustomPrompt="1"/>
          </p:nvPr>
        </p:nvSpPr>
        <p:spPr>
          <a:xfrm>
            <a:off x="7957484" y="1972235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117" name="Text Placeholder 14"/>
          <p:cNvSpPr>
            <a:spLocks noGrp="1"/>
          </p:cNvSpPr>
          <p:nvPr>
            <p:ph type="body" sz="quarter" idx="49" hasCustomPrompt="1"/>
          </p:nvPr>
        </p:nvSpPr>
        <p:spPr>
          <a:xfrm>
            <a:off x="7957484" y="2212777"/>
            <a:ext cx="3863041" cy="15434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18" name="Picture Placeholder 2"/>
          <p:cNvSpPr>
            <a:spLocks noGrp="1"/>
          </p:cNvSpPr>
          <p:nvPr>
            <p:ph type="pic" sz="quarter" idx="50" hasCustomPrompt="1"/>
          </p:nvPr>
        </p:nvSpPr>
        <p:spPr>
          <a:xfrm>
            <a:off x="368300" y="3930637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19" name="Text Placeholder 14"/>
          <p:cNvSpPr>
            <a:spLocks noGrp="1"/>
          </p:cNvSpPr>
          <p:nvPr>
            <p:ph type="body" sz="quarter" idx="51" hasCustomPrompt="1"/>
          </p:nvPr>
        </p:nvSpPr>
        <p:spPr>
          <a:xfrm>
            <a:off x="2044700" y="3930637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20" name="Text Placeholder 14"/>
          <p:cNvSpPr>
            <a:spLocks noGrp="1"/>
          </p:cNvSpPr>
          <p:nvPr>
            <p:ph type="body" sz="quarter" idx="52" hasCustomPrompt="1"/>
          </p:nvPr>
        </p:nvSpPr>
        <p:spPr>
          <a:xfrm>
            <a:off x="2044700" y="4200897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121" name="Text Placeholder 14"/>
          <p:cNvSpPr>
            <a:spLocks noGrp="1"/>
          </p:cNvSpPr>
          <p:nvPr>
            <p:ph type="body" sz="quarter" idx="53" hasCustomPrompt="1"/>
          </p:nvPr>
        </p:nvSpPr>
        <p:spPr>
          <a:xfrm>
            <a:off x="2044700" y="4441439"/>
            <a:ext cx="3863041" cy="15434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22" name="Picture Placeholder 2"/>
          <p:cNvSpPr>
            <a:spLocks noGrp="1"/>
          </p:cNvSpPr>
          <p:nvPr>
            <p:ph type="pic" sz="quarter" idx="54" hasCustomPrompt="1"/>
          </p:nvPr>
        </p:nvSpPr>
        <p:spPr>
          <a:xfrm>
            <a:off x="6281084" y="3930637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23" name="Text Placeholder 14"/>
          <p:cNvSpPr>
            <a:spLocks noGrp="1"/>
          </p:cNvSpPr>
          <p:nvPr>
            <p:ph type="body" sz="quarter" idx="55" hasCustomPrompt="1"/>
          </p:nvPr>
        </p:nvSpPr>
        <p:spPr>
          <a:xfrm>
            <a:off x="7957484" y="3930637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24" name="Text Placeholder 14"/>
          <p:cNvSpPr>
            <a:spLocks noGrp="1"/>
          </p:cNvSpPr>
          <p:nvPr>
            <p:ph type="body" sz="quarter" idx="56" hasCustomPrompt="1"/>
          </p:nvPr>
        </p:nvSpPr>
        <p:spPr>
          <a:xfrm>
            <a:off x="7957484" y="4200897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125" name="Text Placeholder 14"/>
          <p:cNvSpPr>
            <a:spLocks noGrp="1"/>
          </p:cNvSpPr>
          <p:nvPr>
            <p:ph type="body" sz="quarter" idx="57" hasCustomPrompt="1"/>
          </p:nvPr>
        </p:nvSpPr>
        <p:spPr>
          <a:xfrm>
            <a:off x="7957484" y="4441439"/>
            <a:ext cx="3863041" cy="15434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933680"/>
            <a:ext cx="1145222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5817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baseline="0" dirty="0"/>
            </a:lvl1pPr>
          </a:lstStyle>
          <a:p>
            <a:pPr lvl="0"/>
            <a:r>
              <a:rPr lang="en-US" dirty="0"/>
              <a:t>2 contacts with long description</a:t>
            </a:r>
            <a:endParaRPr lang="en-Z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40" hasCustomPrompt="1"/>
          </p:nvPr>
        </p:nvSpPr>
        <p:spPr>
          <a:xfrm>
            <a:off x="368300" y="1701975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43" hasCustomPrompt="1"/>
          </p:nvPr>
        </p:nvSpPr>
        <p:spPr>
          <a:xfrm>
            <a:off x="2044700" y="1701976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44" hasCustomPrompt="1"/>
          </p:nvPr>
        </p:nvSpPr>
        <p:spPr>
          <a:xfrm>
            <a:off x="2044700" y="1972235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94" name="Text Placeholder 14"/>
          <p:cNvSpPr>
            <a:spLocks noGrp="1"/>
          </p:cNvSpPr>
          <p:nvPr>
            <p:ph type="body" sz="quarter" idx="45" hasCustomPrompt="1"/>
          </p:nvPr>
        </p:nvSpPr>
        <p:spPr>
          <a:xfrm>
            <a:off x="2044700" y="2212776"/>
            <a:ext cx="3863041" cy="377209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14" name="Picture Placeholder 2"/>
          <p:cNvSpPr>
            <a:spLocks noGrp="1"/>
          </p:cNvSpPr>
          <p:nvPr>
            <p:ph type="pic" sz="quarter" idx="46" hasCustomPrompt="1"/>
          </p:nvPr>
        </p:nvSpPr>
        <p:spPr>
          <a:xfrm>
            <a:off x="6281084" y="1701975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15" name="Text Placeholder 14"/>
          <p:cNvSpPr>
            <a:spLocks noGrp="1"/>
          </p:cNvSpPr>
          <p:nvPr>
            <p:ph type="body" sz="quarter" idx="47" hasCustomPrompt="1"/>
          </p:nvPr>
        </p:nvSpPr>
        <p:spPr>
          <a:xfrm>
            <a:off x="7957484" y="1701976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16" name="Text Placeholder 14"/>
          <p:cNvSpPr>
            <a:spLocks noGrp="1"/>
          </p:cNvSpPr>
          <p:nvPr>
            <p:ph type="body" sz="quarter" idx="48" hasCustomPrompt="1"/>
          </p:nvPr>
        </p:nvSpPr>
        <p:spPr>
          <a:xfrm>
            <a:off x="7957484" y="1972235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117" name="Text Placeholder 14"/>
          <p:cNvSpPr>
            <a:spLocks noGrp="1"/>
          </p:cNvSpPr>
          <p:nvPr>
            <p:ph type="body" sz="quarter" idx="49" hasCustomPrompt="1"/>
          </p:nvPr>
        </p:nvSpPr>
        <p:spPr>
          <a:xfrm>
            <a:off x="7957484" y="2212776"/>
            <a:ext cx="3863041" cy="377209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933680"/>
            <a:ext cx="1145222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4130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4739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1674624"/>
            <a:ext cx="5530475" cy="431025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9" name="Content Placeholder 2"/>
          <p:cNvSpPr>
            <a:spLocks noGrp="1"/>
          </p:cNvSpPr>
          <p:nvPr>
            <p:ph idx="12" hasCustomPrompt="1"/>
          </p:nvPr>
        </p:nvSpPr>
        <p:spPr>
          <a:xfrm>
            <a:off x="6290049" y="1674624"/>
            <a:ext cx="5530475" cy="431025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1272142"/>
            <a:ext cx="55304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290048" y="1272142"/>
            <a:ext cx="55304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9679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1703294"/>
            <a:ext cx="3701675" cy="428158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47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11" name="Content Placeholder 2"/>
          <p:cNvSpPr>
            <a:spLocks noGrp="1"/>
          </p:cNvSpPr>
          <p:nvPr>
            <p:ph idx="12" hasCustomPrompt="1"/>
          </p:nvPr>
        </p:nvSpPr>
        <p:spPr>
          <a:xfrm>
            <a:off x="4243575" y="1703294"/>
            <a:ext cx="3701675" cy="428158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13" name="Content Placeholder 2"/>
          <p:cNvSpPr>
            <a:spLocks noGrp="1"/>
          </p:cNvSpPr>
          <p:nvPr>
            <p:ph idx="14" hasCustomPrompt="1"/>
          </p:nvPr>
        </p:nvSpPr>
        <p:spPr>
          <a:xfrm>
            <a:off x="8118849" y="1703294"/>
            <a:ext cx="3701675" cy="428158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1272142"/>
            <a:ext cx="37016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243575" y="1272142"/>
            <a:ext cx="37016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118848" y="1272142"/>
            <a:ext cx="37016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022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1277378"/>
            <a:ext cx="5592849" cy="4707497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227296" y="1268413"/>
            <a:ext cx="5593229" cy="47164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5270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2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3378200"/>
            <a:ext cx="5592849" cy="2606675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68300" y="1277378"/>
            <a:ext cx="5593229" cy="1947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227296" y="1277378"/>
            <a:ext cx="5592849" cy="2606675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227296" y="4037013"/>
            <a:ext cx="5593229" cy="1947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61210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1" y="3440672"/>
            <a:ext cx="3620748" cy="2544203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47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68301" y="1268413"/>
            <a:ext cx="3620994" cy="20106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283916" y="3440672"/>
            <a:ext cx="3620748" cy="2544203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283916" y="1268413"/>
            <a:ext cx="3620994" cy="20106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199531" y="3440672"/>
            <a:ext cx="3620748" cy="2544203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199531" y="1268413"/>
            <a:ext cx="3620994" cy="20106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0311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1268413"/>
            <a:ext cx="11452225" cy="4388316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68300" y="5814829"/>
            <a:ext cx="11452225" cy="268661"/>
          </a:xfrm>
        </p:spPr>
        <p:txBody>
          <a:bodyPr anchor="b"/>
          <a:lstStyle>
            <a:lvl1pPr marL="0" indent="0">
              <a:buNone/>
              <a:defRPr sz="9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footnote/source</a:t>
            </a:r>
            <a:endParaRPr lang="en-Z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02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197225"/>
            <a:ext cx="11460525" cy="720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Add title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84541" y="6360871"/>
            <a:ext cx="49306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 spc="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      </a:t>
            </a:r>
            <a:fld id="{B85E10F6-AA81-46B5-AAF7-516B34FC585A}" type="slidenum">
              <a:rPr lang="en-US" sz="1000" b="1" i="0" u="none" strike="noStrike" kern="1200" spc="0" baseline="0" smtClean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ZA" sz="1000" b="1" spc="0" baseline="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Straight Connector 9"/>
          <p:cNvCxnSpPr>
            <a:cxnSpLocks/>
          </p:cNvCxnSpPr>
          <p:nvPr userDrawn="1"/>
        </p:nvCxnSpPr>
        <p:spPr>
          <a:xfrm>
            <a:off x="368300" y="6203579"/>
            <a:ext cx="1089137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1494903" y="6186557"/>
            <a:ext cx="508838" cy="5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0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9" r:id="rId2"/>
    <p:sldLayoutId id="2147483722" r:id="rId3"/>
    <p:sldLayoutId id="2147483727" r:id="rId4"/>
    <p:sldLayoutId id="2147483724" r:id="rId5"/>
    <p:sldLayoutId id="2147483725" r:id="rId6"/>
    <p:sldLayoutId id="2147483650" r:id="rId7"/>
    <p:sldLayoutId id="2147483721" r:id="rId8"/>
    <p:sldLayoutId id="2147483720" r:id="rId9"/>
    <p:sldLayoutId id="2147483664" r:id="rId10"/>
    <p:sldLayoutId id="2147483711" r:id="rId11"/>
    <p:sldLayoutId id="2147483713" r:id="rId12"/>
    <p:sldLayoutId id="2147483714" r:id="rId13"/>
    <p:sldLayoutId id="2147483663" r:id="rId14"/>
    <p:sldLayoutId id="2147483715" r:id="rId15"/>
    <p:sldLayoutId id="2147483716" r:id="rId16"/>
    <p:sldLayoutId id="2147483717" r:id="rId17"/>
    <p:sldLayoutId id="2147483728" r:id="rId18"/>
    <p:sldLayoutId id="2147483718" r:id="rId19"/>
    <p:sldLayoutId id="214748370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none" spc="-3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5100" indent="-165100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38138" indent="-182563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0225" indent="-182563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76275" indent="-155575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325" indent="-136525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70" userDrawn="1">
          <p15:clr>
            <a:srgbClr val="F26B43"/>
          </p15:clr>
        </p15:guide>
        <p15:guide id="2" pos="232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50311" y="4720197"/>
            <a:ext cx="8716418" cy="450338"/>
          </a:xfrm>
        </p:spPr>
        <p:txBody>
          <a:bodyPr/>
          <a:lstStyle/>
          <a:p>
            <a:r>
              <a:rPr lang="en-US" sz="2400" dirty="0"/>
              <a:t>Multi Agent Hierarchical Expert Re-identification for Large-Scale </a:t>
            </a:r>
            <a:r>
              <a:rPr lang="en-US" sz="2400" dirty="0" err="1"/>
              <a:t>Widlife</a:t>
            </a:r>
            <a:r>
              <a:rPr lang="en-US" sz="2400" dirty="0"/>
              <a:t> Recognition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750311" y="5578758"/>
            <a:ext cx="8716418" cy="277906"/>
          </a:xfrm>
        </p:spPr>
        <p:txBody>
          <a:bodyPr/>
          <a:lstStyle/>
          <a:p>
            <a:r>
              <a:rPr lang="en-GB" dirty="0"/>
              <a:t>T.W. </a:t>
            </a:r>
            <a:r>
              <a:rPr lang="en-GB" dirty="0" err="1"/>
              <a:t>Manhema</a:t>
            </a:r>
            <a:r>
              <a:rPr lang="en-GB" dirty="0"/>
              <a:t>, J.S Phala, H.E </a:t>
            </a:r>
            <a:r>
              <a:rPr lang="en-GB" dirty="0" err="1"/>
              <a:t>Ashimwe</a:t>
            </a:r>
            <a:r>
              <a:rPr lang="en-GB" dirty="0"/>
              <a:t>, L. Phuma </a:t>
            </a:r>
            <a:r>
              <a:rPr lang="en-US" dirty="0"/>
              <a:t> </a:t>
            </a:r>
            <a:endParaRPr lang="en-US" dirty="0">
              <a:cs typeface="Arial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750887" y="5986979"/>
            <a:ext cx="6893085" cy="277907"/>
          </a:xfrm>
        </p:spPr>
        <p:txBody>
          <a:bodyPr/>
          <a:lstStyle/>
          <a:p>
            <a:r>
              <a:rPr lang="en-US">
                <a:cs typeface="Arial"/>
              </a:rPr>
              <a:t>MAHER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386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0C49E7-5D41-4FB3-977E-989B2A6AD477}"/>
              </a:ext>
            </a:extLst>
          </p:cNvPr>
          <p:cNvSpPr/>
          <p:nvPr/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cs typeface="Arial"/>
              </a:rPr>
              <a:t>Problem</a:t>
            </a:r>
            <a:r>
              <a:rPr lang="en-US" dirty="0">
                <a:cs typeface="Arial"/>
              </a:rPr>
              <a:t>: identifying wild animals without physical tags is hard because population are dynamic and new indivi</a:t>
            </a:r>
            <a:r>
              <a:rPr lang="en-US">
                <a:cs typeface="Arial"/>
              </a:rPr>
              <a:t>duals keep popping up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>
                <a:cs typeface="Arial"/>
              </a:rPr>
              <a:t>Our approach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,monospace" panose="020B0604020202020204" pitchFamily="34" charset="0"/>
              <a:buChar char="o"/>
            </a:pPr>
            <a:r>
              <a:rPr lang="en-US" b="1">
                <a:cs typeface="Arial"/>
              </a:rPr>
              <a:t>Model A </a:t>
            </a:r>
            <a:r>
              <a:rPr lang="en-US">
                <a:cs typeface="Arial"/>
              </a:rPr>
              <a:t>(general): predicts the species of an animal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,monospace" panose="020B0604020202020204" pitchFamily="34" charset="0"/>
              <a:buChar char="o"/>
            </a:pPr>
            <a:r>
              <a:rPr lang="en-US" dirty="0">
                <a:cs typeface="Arial"/>
              </a:rPr>
              <a:t>A routing table picks from a matching </a:t>
            </a:r>
            <a:r>
              <a:rPr lang="en-US" b="1" dirty="0">
                <a:cs typeface="Arial"/>
              </a:rPr>
              <a:t>Model B</a:t>
            </a:r>
            <a:r>
              <a:rPr lang="en-US" dirty="0">
                <a:cs typeface="Arial"/>
              </a:rPr>
              <a:t> of 4 animals that </a:t>
            </a:r>
            <a:r>
              <a:rPr lang="en-US" dirty="0" err="1">
                <a:cs typeface="Arial"/>
              </a:rPr>
              <a:t>specialises</a:t>
            </a:r>
            <a:r>
              <a:rPr lang="en-US" dirty="0">
                <a:cs typeface="Arial"/>
              </a:rPr>
              <a:t> on that species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,monospace" panose="020B0604020202020204" pitchFamily="34" charset="0"/>
              <a:buChar char="o"/>
            </a:pPr>
            <a:r>
              <a:rPr lang="en-US">
                <a:cs typeface="Arial"/>
              </a:rPr>
              <a:t>That specialist model looks for that specific individual, if it doesn't exist, flag it as new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cs typeface="Arial"/>
              </a:rPr>
              <a:t>Scope: </a:t>
            </a:r>
            <a:r>
              <a:rPr lang="en-US" dirty="0">
                <a:cs typeface="Arial"/>
              </a:rPr>
              <a:t>4 species (hyena, leopard, </a:t>
            </a:r>
            <a:r>
              <a:rPr lang="en-US">
                <a:cs typeface="Arial"/>
              </a:rPr>
              <a:t>macaque, dog)</a:t>
            </a:r>
            <a:endParaRPr lang="en-US" dirty="0">
              <a:cs typeface="Arial"/>
            </a:endParaRP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endParaRPr lang="en-US" dirty="0">
              <a:cs typeface="Arial"/>
            </a:endParaRPr>
          </a:p>
          <a:p>
            <a:pPr lvl="1">
              <a:lnSpc>
                <a:spcPct val="120000"/>
              </a:lnSpc>
              <a:spcBef>
                <a:spcPts val="300"/>
              </a:spcBef>
            </a:pPr>
            <a:endParaRPr lang="en-US" dirty="0">
              <a:cs typeface="Arial"/>
            </a:endParaRP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endParaRPr lang="en-US" dirty="0">
              <a:cs typeface="Arial"/>
            </a:endParaRP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4BB2F6-39A3-4728-91CA-667446880405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Overview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188CCBD-45EC-8A46-086B-90B9FB849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486A-C1F7-B215-A02B-D9567777D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0D1F1B-D684-CDAB-B7FB-CB35F32192D7}"/>
              </a:ext>
            </a:extLst>
          </p:cNvPr>
          <p:cNvSpPr/>
          <p:nvPr/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Source: the wildlife-datasets package; SpottedHyenaID109, LeopardD102, </a:t>
            </a:r>
            <a:r>
              <a:rPr lang="en-US" dirty="0" err="1">
                <a:cs typeface="Arial"/>
              </a:rPr>
              <a:t>MacaqueFaces</a:t>
            </a:r>
            <a:r>
              <a:rPr lang="en-US" dirty="0">
                <a:cs typeface="Arial"/>
              </a:rPr>
              <a:t>, </a:t>
            </a:r>
            <a:r>
              <a:rPr lang="en-US" dirty="0" err="1">
                <a:cs typeface="Arial"/>
              </a:rPr>
              <a:t>DogFaceNet</a:t>
            </a:r>
            <a:r>
              <a:rPr lang="en-US" dirty="0">
                <a:cs typeface="Arial"/>
              </a:rPr>
              <a:t>.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12,308 labelled images across 4 sp</a:t>
            </a:r>
            <a:r>
              <a:rPr lang="en-US">
                <a:cs typeface="Arial"/>
              </a:rPr>
              <a:t>ecies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Scoped down the wildlife-datasets to 4 species due to time and resource </a:t>
            </a:r>
            <a:r>
              <a:rPr lang="en-US">
                <a:cs typeface="Arial"/>
              </a:rPr>
              <a:t>constraints</a:t>
            </a:r>
            <a:endParaRPr lang="en-US" dirty="0">
              <a:cs typeface="Arial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C447E2-584A-F204-BE16-FE397FAE6B5A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Data &amp; Key Decisions</a:t>
            </a:r>
            <a:endParaRPr lang="en-US">
              <a:solidFill>
                <a:schemeClr val="accent1"/>
              </a:solidFill>
              <a:ea typeface="+mj-ea"/>
              <a:cs typeface="+mj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6950518-8E94-B866-CC38-2E26B3D66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r>
              <a:rPr lang="en-US">
                <a:cs typeface="Arial"/>
              </a:rPr>
              <a:t>MAHER</a:t>
            </a:r>
          </a:p>
        </p:txBody>
      </p:sp>
    </p:spTree>
    <p:extLst>
      <p:ext uri="{BB962C8B-B14F-4D97-AF65-F5344CB8AC3E}">
        <p14:creationId xmlns:p14="http://schemas.microsoft.com/office/powerpoint/2010/main" val="282706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4CCC-7B6B-8EA1-600F-1BE92AC0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B29C889-936B-938C-E1E3-C4806A63CD76}"/>
              </a:ext>
            </a:extLst>
          </p:cNvPr>
          <p:cNvSpPr/>
          <p:nvPr/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559590-62B1-CC80-C867-022152C10ABD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Model A</a:t>
            </a:r>
            <a:endParaRPr lang="en-US">
              <a:solidFill>
                <a:schemeClr val="accent1"/>
              </a:solidFill>
              <a:ea typeface="+mj-ea"/>
              <a:cs typeface="+mj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10AB30A-CB01-191A-79EB-90EF38927A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04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F546-A4F5-BEA1-5086-9055FEFB1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624D8F-687E-2CF6-0C1F-8048CEBF9A93}"/>
              </a:ext>
            </a:extLst>
          </p:cNvPr>
          <p:cNvSpPr/>
          <p:nvPr/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B5DEE-0FD7-DB6D-AC3F-BBE35F1CA0C2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Model B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038621-6721-A510-080D-5CF916847E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2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4B95A-0F63-44C5-A920-FEE78C3B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A80CC4-6CAA-98ED-E3DC-7A60BF7B5A32}"/>
              </a:ext>
            </a:extLst>
          </p:cNvPr>
          <p:cNvSpPr/>
          <p:nvPr/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cs typeface="Arial"/>
              </a:rPr>
              <a:t>Integration</a:t>
            </a:r>
            <a:r>
              <a:rPr lang="en-US" dirty="0">
                <a:cs typeface="Arial"/>
              </a:rPr>
              <a:t>: photo in → Model A predicts species → routing table picks matching Model B → photo → known individual or new </a:t>
            </a:r>
            <a:r>
              <a:rPr lang="en-US">
                <a:cs typeface="Arial"/>
              </a:rPr>
              <a:t>individual</a:t>
            </a:r>
            <a:endParaRPr lang="en-US"/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>
                <a:cs typeface="Arial"/>
              </a:rPr>
              <a:t>Interface</a:t>
            </a:r>
            <a:r>
              <a:rPr lang="en-US">
                <a:cs typeface="Arial"/>
              </a:rPr>
              <a:t>: a public web app built in Flask, returns the confidence of model A and the identification status of model B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cs typeface="Arial"/>
              </a:rPr>
              <a:t>Deploymen</a:t>
            </a:r>
            <a:r>
              <a:rPr lang="en-US" b="1">
                <a:cs typeface="Arial"/>
              </a:rPr>
              <a:t>t</a:t>
            </a:r>
            <a:r>
              <a:rPr lang="en-US">
                <a:cs typeface="Arial"/>
              </a:rPr>
              <a:t>: 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r>
              <a:rPr lang="en-US" dirty="0" err="1">
                <a:cs typeface="Arial"/>
              </a:rPr>
              <a:t>Containerised</a:t>
            </a:r>
            <a:r>
              <a:rPr lang="en-US" dirty="0">
                <a:cs typeface="Arial"/>
              </a:rPr>
              <a:t> with Docker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Served being a reverse proxy with automatic HTTPS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r>
              <a:rPr lang="en-US" dirty="0">
                <a:cs typeface="Arial"/>
              </a:rPr>
              <a:t>Live, publicly </a:t>
            </a:r>
            <a:r>
              <a:rPr lang="en-US" dirty="0" err="1">
                <a:cs typeface="Arial"/>
              </a:rPr>
              <a:t>accessable</a:t>
            </a:r>
            <a:r>
              <a:rPr lang="en-US" dirty="0">
                <a:cs typeface="Arial"/>
              </a:rPr>
              <a:t> demo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endParaRPr lang="en-US" dirty="0">
              <a:cs typeface="Arial"/>
            </a:endParaRPr>
          </a:p>
          <a:p>
            <a:pPr lvl="1">
              <a:lnSpc>
                <a:spcPct val="120000"/>
              </a:lnSpc>
              <a:spcBef>
                <a:spcPts val="300"/>
              </a:spcBef>
            </a:pPr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154CFD-E6C5-09A0-58AD-EE60CBCDD5C5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UI, Integration &amp; </a:t>
            </a: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Deployment</a:t>
            </a:r>
            <a:endParaRPr lang="en-US" sz="2800" b="1" spc="-3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rgbClr val="3C3C3C">
                    <a:alpha val="40000"/>
                  </a:srgbClr>
                </a:outerShdw>
              </a:effectLst>
              <a:ea typeface="+mj-ea"/>
              <a:cs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835D8C9-DE65-9F04-0240-55FD6F7C8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F89CC-835A-4A56-38A8-E1B74AF309DC}"/>
              </a:ext>
            </a:extLst>
          </p:cNvPr>
          <p:cNvSpPr txBox="1"/>
          <p:nvPr/>
        </p:nvSpPr>
        <p:spPr>
          <a:xfrm>
            <a:off x="4130051" y="5128838"/>
            <a:ext cx="39379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Live Demo</a:t>
            </a:r>
            <a:r>
              <a:rPr lang="en-US" dirty="0">
                <a:cs typeface="Arial"/>
              </a:rPr>
              <a:t>: </a:t>
            </a:r>
            <a:r>
              <a:rPr lang="en-US">
                <a:cs typeface="Arial"/>
              </a:rPr>
              <a:t>https://maher.lwazi.gay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663670"/>
      </p:ext>
    </p:extLst>
  </p:cSld>
  <p:clrMapOvr>
    <a:masterClrMapping/>
  </p:clrMapOvr>
</p:sld>
</file>

<file path=ppt/theme/theme1.xml><?xml version="1.0" encoding="utf-8"?>
<a:theme xmlns:a="http://schemas.openxmlformats.org/drawingml/2006/main" name="UJ">
  <a:themeElements>
    <a:clrScheme name="UJ">
      <a:dk1>
        <a:srgbClr val="3C3C3C"/>
      </a:dk1>
      <a:lt1>
        <a:srgbClr val="FFFFFF"/>
      </a:lt1>
      <a:dk2>
        <a:srgbClr val="3C3C3C"/>
      </a:dk2>
      <a:lt2>
        <a:srgbClr val="A7A7A7"/>
      </a:lt2>
      <a:accent1>
        <a:srgbClr val="26003B"/>
      </a:accent1>
      <a:accent2>
        <a:srgbClr val="D95900"/>
      </a:accent2>
      <a:accent3>
        <a:srgbClr val="3C3C3C"/>
      </a:accent3>
      <a:accent4>
        <a:srgbClr val="E98837"/>
      </a:accent4>
      <a:accent5>
        <a:srgbClr val="A7A7A7"/>
      </a:accent5>
      <a:accent6>
        <a:srgbClr val="93809D"/>
      </a:accent6>
      <a:hlink>
        <a:srgbClr val="3C3C3C"/>
      </a:hlink>
      <a:folHlink>
        <a:srgbClr val="A7A7A7"/>
      </a:folHlink>
    </a:clrScheme>
    <a:fontScheme name="Custom 9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C57F166C9754B91CD85089D67B371" ma:contentTypeVersion="1" ma:contentTypeDescription="Create a new document." ma:contentTypeScope="" ma:versionID="3a62357ed737ed26a1ba1db33fc307ac">
  <xsd:schema xmlns:xsd="http://www.w3.org/2001/XMLSchema" xmlns:xs="http://www.w3.org/2001/XMLSchema" xmlns:p="http://schemas.microsoft.com/office/2006/metadata/properties" xmlns:ns1="http://schemas.microsoft.com/sharepoint/v3" xmlns:ns2="54d5fed8-76f5-4e8f-9889-73f9666a3c69" targetNamespace="http://schemas.microsoft.com/office/2006/metadata/properties" ma:root="true" ma:fieldsID="42f0a9b80ca4ba500715ad7d4b3db980" ns1:_="" ns2:_="">
    <xsd:import namespace="http://schemas.microsoft.com/sharepoint/v3"/>
    <xsd:import namespace="54d5fed8-76f5-4e8f-9889-73f9666a3c6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d5fed8-76f5-4e8f-9889-73f9666a3c69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54d5fed8-76f5-4e8f-9889-73f9666a3c69">2WKNTYJURH3M-4-4795</_dlc_DocId>
    <_dlc_DocIdUrl xmlns="54d5fed8-76f5-4e8f-9889-73f9666a3c69">
      <Url>https://intranet.uj.ac.za/_layouts/15/DocIdRedir.aspx?ID=2WKNTYJURH3M-4-4795</Url>
      <Description>2WKNTYJURH3M-4-4795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64DC39-0BBE-498F-8FFC-0D8F2578F6AB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30E24151-81F6-4ACE-8390-8E4FD6D732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4d5fed8-76f5-4e8f-9889-73f9666a3c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9E6DC7-4EA3-4ABC-9794-00F344CE418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54d5fed8-76f5-4e8f-9889-73f9666a3c69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383B6F55-99A6-46B1-9373-B11ECF2F7B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141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UJ</vt:lpstr>
      <vt:lpstr>Multi Agent Hierarchical Expert Re-identification for Large-Scale Widlife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Debra</dc:creator>
  <cp:lastModifiedBy>Sithungu, Siphesihle</cp:lastModifiedBy>
  <cp:revision>367</cp:revision>
  <dcterms:created xsi:type="dcterms:W3CDTF">2016-08-29T16:05:45Z</dcterms:created>
  <dcterms:modified xsi:type="dcterms:W3CDTF">2026-10-18T16:36:20Z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0x010100D5BC57F166C9754B91CD85089D67B371</vt:lpwstr>
  </property>
  <property fmtid="{D5CDD505-2E9C-101B-9397-08002B2CF9AE}" pid="3" name="_dlc_DocIdItemGuid">
    <vt:lpwstr>446716d7-540a-4505-8cfc-ef7a779e7d02</vt:lpwstr>
  </property>
</Properties>
</file>